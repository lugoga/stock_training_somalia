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63" r:id="rId5"/>
    <p:sldId id="262" r:id="rId6"/>
    <p:sldId id="279" r:id="rId7"/>
    <p:sldId id="261" r:id="rId8"/>
    <p:sldId id="278" r:id="rId9"/>
    <p:sldId id="273" r:id="rId10"/>
    <p:sldId id="267" r:id="rId11"/>
    <p:sldId id="268" r:id="rId12"/>
    <p:sldId id="271" r:id="rId13"/>
    <p:sldId id="269" r:id="rId14"/>
    <p:sldId id="272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22" autoAdjust="0"/>
    <p:restoredTop sz="93883" autoAdjust="0"/>
  </p:normalViewPr>
  <p:slideViewPr>
    <p:cSldViewPr snapToGrid="0">
      <p:cViewPr varScale="1">
        <p:scale>
          <a:sx n="60" d="100"/>
          <a:sy n="60" d="100"/>
        </p:scale>
        <p:origin x="11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D379-9BBF-4D60-BD38-D2317E8488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D201-BD0B-4434-85FA-5E63157F2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76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D379-9BBF-4D60-BD38-D2317E8488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D201-BD0B-4434-85FA-5E63157F2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4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D379-9BBF-4D60-BD38-D2317E8488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D201-BD0B-4434-85FA-5E63157F2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362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D379-9BBF-4D60-BD38-D2317E8488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D201-BD0B-4434-85FA-5E63157F2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24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D379-9BBF-4D60-BD38-D2317E8488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D201-BD0B-4434-85FA-5E63157F2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40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D379-9BBF-4D60-BD38-D2317E8488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D201-BD0B-4434-85FA-5E63157F2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12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D379-9BBF-4D60-BD38-D2317E8488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D201-BD0B-4434-85FA-5E63157F2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26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D379-9BBF-4D60-BD38-D2317E8488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D201-BD0B-4434-85FA-5E63157F2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05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D379-9BBF-4D60-BD38-D2317E8488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D201-BD0B-4434-85FA-5E63157F2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733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D379-9BBF-4D60-BD38-D2317E8488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D201-BD0B-4434-85FA-5E63157F2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27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D379-9BBF-4D60-BD38-D2317E8488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D201-BD0B-4434-85FA-5E63157F2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30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0D379-9BBF-4D60-BD38-D2317E8488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2D201-BD0B-4434-85FA-5E63157F2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6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NUL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NUL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5243" y="5304039"/>
            <a:ext cx="6077203" cy="1154511"/>
          </a:xfrm>
        </p:spPr>
        <p:txBody>
          <a:bodyPr>
            <a:normAutofit fontScale="90000"/>
          </a:bodyPr>
          <a:lstStyle/>
          <a:p>
            <a:r>
              <a:rPr lang="en-GB" sz="2800" i="1" dirty="0" smtClean="0"/>
              <a:t>Presenter</a:t>
            </a:r>
            <a:br>
              <a:rPr lang="en-GB" sz="2800" i="1" dirty="0" smtClean="0"/>
            </a:br>
            <a:r>
              <a:rPr lang="en-GB" sz="2800" i="1" dirty="0" smtClean="0"/>
              <a:t>Dr Catherine </a:t>
            </a:r>
            <a:r>
              <a:rPr lang="en-GB" sz="2800" i="1" dirty="0" err="1" smtClean="0"/>
              <a:t>Mwakosya</a:t>
            </a:r>
            <a:r>
              <a:rPr lang="en-GB" sz="2800" i="1" dirty="0" smtClean="0"/>
              <a:t> &amp; Dr Mathew Silas </a:t>
            </a:r>
            <a:endParaRPr lang="en-US" sz="28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7360" y="3111150"/>
            <a:ext cx="9144000" cy="1029597"/>
          </a:xfrm>
        </p:spPr>
        <p:txBody>
          <a:bodyPr/>
          <a:lstStyle/>
          <a:p>
            <a:r>
              <a:rPr lang="en-GB" dirty="0" smtClean="0"/>
              <a:t>MODULE I </a:t>
            </a:r>
            <a:br>
              <a:rPr lang="en-GB" dirty="0" smtClean="0"/>
            </a:br>
            <a:r>
              <a:rPr lang="en-GB" dirty="0" smtClean="0"/>
              <a:t>Fundamentals and concepts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732675"/>
              </p:ext>
            </p:extLst>
          </p:nvPr>
        </p:nvGraphicFramePr>
        <p:xfrm>
          <a:off x="2300438" y="1514720"/>
          <a:ext cx="8017844" cy="13667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17844">
                  <a:extLst>
                    <a:ext uri="{9D8B030D-6E8A-4147-A177-3AD203B41FA5}">
                      <a16:colId xmlns:a16="http://schemas.microsoft.com/office/drawing/2014/main" val="2009036908"/>
                    </a:ext>
                  </a:extLst>
                </a:gridCol>
              </a:tblGrid>
              <a:tr h="13667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FISHERIES STOCK ASSESSMENT: CAPACITY-BUILDING TRAINING FOR SOMALIA'S MINISTRY OF FISHERIES AND BLUE ECONOMY STAFF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72486710"/>
                  </a:ext>
                </a:extLst>
              </a:tr>
            </a:tbl>
          </a:graphicData>
        </a:graphic>
      </p:graphicFrame>
      <p:pic>
        <p:nvPicPr>
          <p:cNvPr id="8" name="Pictur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96" y="617674"/>
            <a:ext cx="1415750" cy="1330184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05" y="796934"/>
            <a:ext cx="1227455" cy="12503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0438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703" y="288758"/>
            <a:ext cx="10515600" cy="891791"/>
          </a:xfrm>
          <a:solidFill>
            <a:srgbClr val="FFC000"/>
          </a:solidFill>
        </p:spPr>
        <p:txBody>
          <a:bodyPr/>
          <a:lstStyle/>
          <a:p>
            <a:r>
              <a:rPr lang="en-GB" b="1" dirty="0" smtClean="0"/>
              <a:t>Key guiding questions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289785"/>
            <a:ext cx="11068251" cy="5293895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What is sustainable fisheries management?</a:t>
            </a:r>
          </a:p>
          <a:p>
            <a:pPr lvl="0"/>
            <a:r>
              <a:rPr lang="en-US" dirty="0"/>
              <a:t>What is fish stock assessment, and why is it crucial for sustainable fisheries management?</a:t>
            </a:r>
          </a:p>
          <a:p>
            <a:pPr lvl="0"/>
            <a:r>
              <a:rPr lang="en-US" dirty="0"/>
              <a:t>Why is fish stock assessment in important in sustainable fisheries?</a:t>
            </a:r>
          </a:p>
          <a:p>
            <a:pPr lvl="0"/>
            <a:r>
              <a:rPr lang="en-US" dirty="0"/>
              <a:t>Which fisheries to focus on stock assessment?</a:t>
            </a:r>
          </a:p>
          <a:p>
            <a:pPr lvl="0"/>
            <a:r>
              <a:rPr lang="en-US" dirty="0"/>
              <a:t>How assessment results inform policy, regulations, and conservation efforts.</a:t>
            </a:r>
          </a:p>
          <a:p>
            <a:pPr lvl="0"/>
            <a:r>
              <a:rPr lang="en-US" dirty="0"/>
              <a:t>What are key requirements (challenges and limitations) to undertake fish stock assessment? Acknowledging the inherent uncertainties and complexities in assessing wild fish populations.</a:t>
            </a:r>
          </a:p>
          <a:p>
            <a:pPr lvl="0"/>
            <a:r>
              <a:rPr lang="en-US" dirty="0"/>
              <a:t>Ecosystem-Based Fisheries Management (EBFM), an approach to managing fisheries that goes beyond catch data for a single species by considering the entire ecosystem:</a:t>
            </a:r>
          </a:p>
          <a:p>
            <a:pPr lvl="0"/>
            <a:r>
              <a:rPr lang="en-US" dirty="0"/>
              <a:t>Integrating ecological, social, and economic considerations into fisheries assessment and management.</a:t>
            </a:r>
          </a:p>
          <a:p>
            <a:pPr lvl="0"/>
            <a:r>
              <a:rPr lang="en-US" dirty="0"/>
              <a:t>Linking stock assessment results to ecosystem management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73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916" y="885523"/>
            <a:ext cx="10585400" cy="746793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GB" sz="4000" b="1" dirty="0" smtClean="0"/>
              <a:t>What is fish stock assessment</a:t>
            </a:r>
            <a:endParaRPr lang="en-US" sz="4000" b="1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223" r="1223"/>
          <a:stretch>
            <a:fillRect/>
          </a:stretch>
        </p:blipFill>
        <p:spPr>
          <a:xfrm>
            <a:off x="5229030" y="1819175"/>
            <a:ext cx="6172200" cy="487362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>
          <a:xfrm>
            <a:off x="336884" y="1819175"/>
            <a:ext cx="4985887" cy="4686767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A fishery stock assessment is the scientific process of </a:t>
            </a:r>
            <a:r>
              <a:rPr lang="en-GB" sz="2800" b="1" dirty="0"/>
              <a:t>collecting</a:t>
            </a:r>
            <a:r>
              <a:rPr lang="en-GB" sz="2800" dirty="0"/>
              <a:t>, </a:t>
            </a:r>
            <a:r>
              <a:rPr lang="en-GB" sz="2800" b="1" dirty="0" smtClean="0"/>
              <a:t>analysing</a:t>
            </a:r>
            <a:r>
              <a:rPr lang="en-GB" sz="2800" dirty="0" smtClean="0"/>
              <a:t>, </a:t>
            </a:r>
            <a:r>
              <a:rPr lang="en-GB" sz="2800" dirty="0"/>
              <a:t>and </a:t>
            </a:r>
            <a:r>
              <a:rPr lang="en-GB" sz="2800" b="1" dirty="0"/>
              <a:t>reporting</a:t>
            </a:r>
            <a:r>
              <a:rPr lang="en-GB" sz="2800" dirty="0"/>
              <a:t> on the condition of a fish stock and estimating its sustainable yield</a:t>
            </a:r>
            <a:r>
              <a:rPr lang="en-GB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 smtClean="0"/>
              <a:t> </a:t>
            </a:r>
            <a:r>
              <a:rPr lang="en-GB" sz="2800" dirty="0"/>
              <a:t>Stock assessments are the backbone </a:t>
            </a:r>
            <a:r>
              <a:rPr lang="en-GB" sz="2800" dirty="0" smtClean="0"/>
              <a:t>of </a:t>
            </a:r>
            <a:r>
              <a:rPr lang="en-GB" sz="2800" dirty="0"/>
              <a:t>sustainable fisheries management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r>
              <a:rPr lang="en-GB" dirty="0" smtClean="0"/>
              <a:t>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670" y="2231864"/>
            <a:ext cx="5961733" cy="406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4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7783" y="143563"/>
            <a:ext cx="10556523" cy="881546"/>
          </a:xfrm>
          <a:solidFill>
            <a:srgbClr val="FFC000"/>
          </a:solidFill>
        </p:spPr>
        <p:txBody>
          <a:bodyPr/>
          <a:lstStyle/>
          <a:p>
            <a:r>
              <a:rPr lang="en-GB" b="1" dirty="0" smtClean="0"/>
              <a:t>What is fish stock assessment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>
          <a:xfrm>
            <a:off x="839787" y="1357162"/>
            <a:ext cx="5426258" cy="52361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 smtClean="0"/>
              <a:t>Stock assessment rely on two data</a:t>
            </a:r>
          </a:p>
          <a:p>
            <a:pPr marL="0" indent="0">
              <a:buNone/>
            </a:pPr>
            <a:r>
              <a:rPr lang="en-GB" sz="2400" dirty="0"/>
              <a:t>(1) </a:t>
            </a:r>
            <a:r>
              <a:rPr lang="en-GB" sz="2400" b="1" dirty="0"/>
              <a:t>fishery-dependent data</a:t>
            </a:r>
            <a:r>
              <a:rPr lang="en-GB" sz="2400" dirty="0"/>
              <a:t>, or information</a:t>
            </a:r>
          </a:p>
          <a:p>
            <a:pPr marL="0" indent="0">
              <a:buNone/>
            </a:pPr>
            <a:r>
              <a:rPr lang="en-GB" sz="2400" dirty="0" smtClean="0"/>
              <a:t>collected </a:t>
            </a:r>
            <a:r>
              <a:rPr lang="en-GB" sz="2400" dirty="0"/>
              <a:t>from fishermen and dealers on catch, landings and effort;</a:t>
            </a:r>
          </a:p>
          <a:p>
            <a:pPr marL="0" indent="0">
              <a:buNone/>
            </a:pPr>
            <a:r>
              <a:rPr lang="en-GB" sz="2400" dirty="0" smtClean="0"/>
              <a:t>and</a:t>
            </a:r>
          </a:p>
          <a:p>
            <a:pPr marL="0" indent="0">
              <a:buNone/>
            </a:pPr>
            <a:r>
              <a:rPr lang="en-GB" sz="2400" dirty="0" smtClean="0"/>
              <a:t> </a:t>
            </a:r>
            <a:r>
              <a:rPr lang="en-GB" sz="2400" dirty="0"/>
              <a:t>(2) </a:t>
            </a:r>
            <a:r>
              <a:rPr lang="en-GB" sz="2400" b="1" dirty="0"/>
              <a:t>fishery-independent data</a:t>
            </a:r>
            <a:r>
              <a:rPr lang="en-GB" sz="2400" dirty="0"/>
              <a:t>, or information collected </a:t>
            </a:r>
            <a:r>
              <a:rPr lang="en-GB" sz="2400" dirty="0" smtClean="0"/>
              <a:t>by scientists </a:t>
            </a:r>
            <a:r>
              <a:rPr lang="en-GB" sz="2400" dirty="0"/>
              <a:t>via a long-term research survey or other scientific study.</a:t>
            </a:r>
          </a:p>
          <a:p>
            <a:r>
              <a:rPr lang="en-GB" sz="2400" dirty="0" smtClean="0"/>
              <a:t>.</a:t>
            </a:r>
            <a:endParaRPr lang="en-US" sz="2400" dirty="0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>
          <a:xfrm>
            <a:off x="7850613" y="3681645"/>
            <a:ext cx="3888606" cy="2930910"/>
          </a:xfrm>
          <a:effectLst>
            <a:softEdge rad="317500"/>
          </a:effectLst>
        </p:spPr>
      </p:pic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3" y="1174282"/>
            <a:ext cx="3992062" cy="2358190"/>
          </a:xfrm>
          <a:prstGeom prst="rect">
            <a:avLst/>
          </a:prstGeom>
          <a:noFill/>
          <a:ln>
            <a:noFill/>
          </a:ln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282" y="1174282"/>
            <a:ext cx="2901948" cy="19265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093" y="3249958"/>
            <a:ext cx="3870650" cy="290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590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21343"/>
          </a:xfrm>
          <a:solidFill>
            <a:srgbClr val="FFC000"/>
          </a:solidFill>
        </p:spPr>
        <p:txBody>
          <a:bodyPr/>
          <a:lstStyle/>
          <a:p>
            <a:r>
              <a:rPr lang="en-US" b="1" dirty="0"/>
              <a:t>Why Assess Fish Stocks?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type="body" sz="half" idx="2"/>
          </p:nvPr>
        </p:nvSpPr>
        <p:spPr>
          <a:xfrm>
            <a:off x="577516" y="2057400"/>
            <a:ext cx="4408370" cy="4391526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To </a:t>
            </a:r>
            <a:r>
              <a:rPr lang="en-GB" sz="2400" dirty="0" smtClean="0"/>
              <a:t>determine </a:t>
            </a:r>
            <a:r>
              <a:rPr lang="en-GB" sz="2400" dirty="0"/>
              <a:t>their status, to evaluate how they may be affected by potential management actions, and to forecast their future conditions.</a:t>
            </a:r>
          </a:p>
          <a:p>
            <a:r>
              <a:rPr lang="en-US" sz="2400" dirty="0"/>
              <a:t>To define desirable conditions </a:t>
            </a:r>
            <a:r>
              <a:rPr lang="en-GB" sz="2400" dirty="0"/>
              <a:t>or benchmarks which  indicates status,</a:t>
            </a:r>
            <a:r>
              <a:rPr lang="en-US" sz="2400" dirty="0"/>
              <a:t> derived from estimation of  either abundance or weight (biomass) references</a:t>
            </a:r>
          </a:p>
          <a:p>
            <a:r>
              <a:rPr lang="en-US" dirty="0" smtClean="0"/>
              <a:t>o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52762" y="1375051"/>
            <a:ext cx="6172200" cy="4873625"/>
          </a:xfrm>
        </p:spPr>
      </p:sp>
      <p:pic>
        <p:nvPicPr>
          <p:cNvPr id="8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871" y="1578543"/>
            <a:ext cx="6823981" cy="447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63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9788" y="355959"/>
            <a:ext cx="8980073" cy="1015642"/>
          </a:xfrm>
          <a:solidFill>
            <a:srgbClr val="FFC000"/>
          </a:solidFill>
        </p:spPr>
        <p:txBody>
          <a:bodyPr/>
          <a:lstStyle/>
          <a:p>
            <a:r>
              <a:rPr lang="en-GB" b="1" dirty="0"/>
              <a:t>Concepts-Life history</a:t>
            </a:r>
            <a:endParaRPr lang="en-US" b="1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idx="1"/>
          </p:nvPr>
        </p:nvSpPr>
        <p:spPr>
          <a:xfrm>
            <a:off x="5183188" y="1616626"/>
            <a:ext cx="6172200" cy="4873625"/>
          </a:xfrm>
        </p:spPr>
      </p:sp>
      <p:pic>
        <p:nvPicPr>
          <p:cNvPr id="3" name="Picture 2" descr="C:\Users\Administrator\Downloads\Tuna-lifecycle1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991" y="1720133"/>
            <a:ext cx="6555377" cy="45315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278296" y="1808922"/>
            <a:ext cx="4493729" cy="4681329"/>
          </a:xfrm>
        </p:spPr>
        <p:txBody>
          <a:bodyPr>
            <a:normAutofit fontScale="92500" lnSpcReduction="10000"/>
          </a:bodyPr>
          <a:lstStyle/>
          <a:p>
            <a:pPr marL="0" lvl="1"/>
            <a:r>
              <a:rPr lang="en-US" sz="2000" b="1" dirty="0"/>
              <a:t>Age &amp; Growth</a:t>
            </a:r>
            <a:r>
              <a:rPr lang="en-US" sz="2000" b="1" dirty="0" smtClean="0"/>
              <a:t>:</a:t>
            </a:r>
            <a:r>
              <a:rPr lang="en-US" sz="2000" dirty="0" smtClean="0"/>
              <a:t>. Understanding rate at which approaching maximum size</a:t>
            </a:r>
            <a:endParaRPr lang="en-US" sz="2000" dirty="0"/>
          </a:p>
          <a:p>
            <a:pPr marL="0" lvl="1"/>
            <a:endParaRPr lang="en-US" sz="2000" b="1" dirty="0" smtClean="0"/>
          </a:p>
          <a:p>
            <a:pPr marL="0" lvl="1"/>
            <a:r>
              <a:rPr lang="en-US" sz="2000" b="1" dirty="0" smtClean="0"/>
              <a:t>Feeding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smtClean="0"/>
              <a:t>Understanding feeding trophic levels and strategies</a:t>
            </a:r>
          </a:p>
          <a:p>
            <a:pPr marL="0" lvl="1"/>
            <a:endParaRPr lang="en-US" sz="2000" b="1" dirty="0" smtClean="0"/>
          </a:p>
          <a:p>
            <a:pPr marL="0" lvl="1"/>
            <a:r>
              <a:rPr lang="en-US" sz="2000" b="1" dirty="0" smtClean="0"/>
              <a:t>Reproduction</a:t>
            </a:r>
            <a:r>
              <a:rPr lang="en-US" sz="2000" dirty="0" smtClean="0"/>
              <a:t>: Fecundity, reproductive peaks tracing life cycles </a:t>
            </a:r>
          </a:p>
          <a:p>
            <a:pPr marL="0" lvl="1"/>
            <a:endParaRPr lang="en-US" sz="2000" b="1" dirty="0" smtClean="0"/>
          </a:p>
          <a:p>
            <a:pPr marL="0" lvl="1"/>
            <a:r>
              <a:rPr lang="en-US" sz="2000" b="1" dirty="0" smtClean="0"/>
              <a:t>Habitat</a:t>
            </a:r>
            <a:r>
              <a:rPr lang="en-US" sz="2000" dirty="0"/>
              <a:t>: Loss of habitat and water quality significantly affects the health of fish stocks. Habitat considerations need to be included in management plans.</a:t>
            </a:r>
          </a:p>
          <a:p>
            <a:pPr marL="0" lvl="1"/>
            <a:endParaRPr lang="en-US" sz="2000" b="1" dirty="0" smtClean="0"/>
          </a:p>
          <a:p>
            <a:pPr marL="0" lvl="1"/>
            <a:r>
              <a:rPr lang="en-US" sz="2000" b="1" dirty="0" smtClean="0"/>
              <a:t>Natural </a:t>
            </a:r>
            <a:r>
              <a:rPr lang="en-US" sz="2000" b="1" dirty="0"/>
              <a:t>Mortality</a:t>
            </a:r>
            <a:r>
              <a:rPr lang="en-US" sz="2000" dirty="0"/>
              <a:t>: </a:t>
            </a:r>
            <a:r>
              <a:rPr lang="en-US" sz="2000" dirty="0" smtClean="0"/>
              <a:t>M </a:t>
            </a:r>
            <a:r>
              <a:rPr lang="en-US" sz="2000" dirty="0"/>
              <a:t>is critical and therefore incorporated into most population dynamics models.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2325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Concepts – population dynamics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7518" y="1690688"/>
            <a:ext cx="5877295" cy="39463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9133" y="1366786"/>
            <a:ext cx="519737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b="1" dirty="0"/>
              <a:t>Recruitment</a:t>
            </a:r>
            <a:r>
              <a:rPr lang="en-US" sz="2400" dirty="0"/>
              <a:t>: is the number of fish born within a given time period that survive to the juvenile stage. </a:t>
            </a:r>
            <a:endParaRPr lang="en-US" sz="2400" dirty="0" smtClean="0"/>
          </a:p>
          <a:p>
            <a:pPr lvl="0"/>
            <a:r>
              <a:rPr lang="en-US" sz="2400" b="1" dirty="0" smtClean="0"/>
              <a:t>Growth</a:t>
            </a:r>
            <a:r>
              <a:rPr lang="en-US" sz="2400" dirty="0"/>
              <a:t>: How fish size and weight change over time</a:t>
            </a:r>
            <a:r>
              <a:rPr lang="en-US" sz="2400" dirty="0" smtClean="0"/>
              <a:t>,</a:t>
            </a:r>
          </a:p>
          <a:p>
            <a:pPr lvl="0"/>
            <a:r>
              <a:rPr lang="en-US" sz="2400" dirty="0" smtClean="0"/>
              <a:t> </a:t>
            </a:r>
            <a:r>
              <a:rPr lang="en-US" sz="2400" b="1" dirty="0" smtClean="0"/>
              <a:t>Mortality</a:t>
            </a:r>
            <a:r>
              <a:rPr lang="en-US" sz="2400" dirty="0"/>
              <a:t>: is the number of fish dying within a given time </a:t>
            </a:r>
            <a:r>
              <a:rPr lang="en-US" sz="2400" dirty="0" smtClean="0"/>
              <a:t>period. .</a:t>
            </a:r>
            <a:endParaRPr lang="en-US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Natural Mortality (M):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Fishing Mortality (F):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Total Mortality (Z): The sum of natural and fishing mortality</a:t>
            </a:r>
            <a:endParaRPr lang="en-US" sz="2400" dirty="0"/>
          </a:p>
        </p:txBody>
      </p:sp>
      <p:pic>
        <p:nvPicPr>
          <p:cNvPr id="5" name="Picture 4" descr="C:\Users\Administrator\Downloads\Tuna-lifecycle1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505" y="1366786"/>
            <a:ext cx="6372160" cy="4140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290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205" y="240343"/>
            <a:ext cx="6603830" cy="648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58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7166"/>
          </a:xfrm>
        </p:spPr>
        <p:txBody>
          <a:bodyPr/>
          <a:lstStyle/>
          <a:p>
            <a:r>
              <a:rPr lang="en-GB" dirty="0" smtClean="0"/>
              <a:t>Concepts –reference points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176" y="1849982"/>
            <a:ext cx="6677780" cy="446136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3243" y="2385390"/>
            <a:ext cx="3260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Biological</a:t>
            </a:r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/>
              <a:t>Exploitation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059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Concepts- Exploitation –Yield per recruits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77314" y="2022551"/>
            <a:ext cx="5461987" cy="2074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kern="100" dirty="0">
                <a:latin typeface="Aptos Display"/>
                <a:ea typeface="Aptos"/>
                <a:cs typeface="Times New Roman" panose="02020603050405020304" pitchFamily="18" charset="0"/>
              </a:rPr>
              <a:t>Yield per recruit</a:t>
            </a:r>
            <a:r>
              <a:rPr lang="en-US" sz="2800" kern="100" dirty="0" smtClean="0">
                <a:latin typeface="Aptos Display"/>
                <a:ea typeface="Aptos"/>
                <a:cs typeface="Times New Roman" panose="02020603050405020304" pitchFamily="18" charset="0"/>
              </a:rPr>
              <a:t>:</a:t>
            </a:r>
          </a:p>
          <a:p>
            <a:pPr lvl="1" algn="just">
              <a:lnSpc>
                <a:spcPct val="115000"/>
              </a:lnSpc>
            </a:pPr>
            <a:r>
              <a:rPr lang="en-US" sz="2800" kern="100" dirty="0" smtClean="0">
                <a:latin typeface="Aptos Display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800" kern="100" dirty="0">
                <a:latin typeface="Aptos Display"/>
                <a:ea typeface="Aptos"/>
                <a:cs typeface="Times New Roman" panose="02020603050405020304" pitchFamily="18" charset="0"/>
              </a:rPr>
              <a:t>Understanding how fishing pressure affects the catch from a cohort.</a:t>
            </a:r>
            <a:endParaRPr lang="en-US" sz="2800" kern="100" dirty="0">
              <a:latin typeface="Aptos"/>
              <a:ea typeface="Aptos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0974" y="1690688"/>
            <a:ext cx="3183065" cy="19768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031" y="3945835"/>
            <a:ext cx="4530178" cy="212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264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Concepts- Exploitation –Stock-recruitment relationship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77314" y="2022551"/>
            <a:ext cx="605875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200" b="1" dirty="0" smtClean="0"/>
              <a:t>Stock-recruitment relationships</a:t>
            </a:r>
            <a:r>
              <a:rPr lang="en-US" sz="3200" dirty="0" smtClean="0"/>
              <a:t>:</a:t>
            </a:r>
          </a:p>
          <a:p>
            <a:pPr lvl="0"/>
            <a:r>
              <a:rPr lang="en-US" sz="3200" dirty="0" smtClean="0"/>
              <a:t> How spawning stock size influences future recruitment 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27" y="2022551"/>
            <a:ext cx="4970215" cy="377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8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Concepts- Exploitation –Maximum sustainable yield (MSY)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48439" y="2041802"/>
            <a:ext cx="4614963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200" b="1" dirty="0" smtClean="0"/>
              <a:t>Maximum</a:t>
            </a:r>
            <a:r>
              <a:rPr lang="en-US" sz="3200" dirty="0" smtClean="0"/>
              <a:t> </a:t>
            </a:r>
            <a:r>
              <a:rPr lang="en-US" sz="3200" b="1" dirty="0" smtClean="0"/>
              <a:t>sustainable</a:t>
            </a:r>
            <a:r>
              <a:rPr lang="en-US" sz="3200" dirty="0" smtClean="0"/>
              <a:t> </a:t>
            </a:r>
            <a:r>
              <a:rPr lang="en-US" sz="3200" b="1" dirty="0" smtClean="0"/>
              <a:t>yield</a:t>
            </a:r>
            <a:r>
              <a:rPr lang="en-US" sz="3200" dirty="0" smtClean="0"/>
              <a:t> (</a:t>
            </a:r>
            <a:r>
              <a:rPr lang="en-US" sz="3200" b="1" dirty="0" smtClean="0"/>
              <a:t>MSY</a:t>
            </a:r>
            <a:r>
              <a:rPr lang="en-US" sz="3200" dirty="0" smtClean="0"/>
              <a:t>): </a:t>
            </a:r>
          </a:p>
          <a:p>
            <a:pPr lvl="0"/>
            <a:r>
              <a:rPr lang="en-US" sz="3200" dirty="0" smtClean="0"/>
              <a:t>The </a:t>
            </a:r>
            <a:r>
              <a:rPr lang="en-US" sz="3200" dirty="0"/>
              <a:t>theoretical maximum catch that can be taken from a fish stock indefinitely without impairing its ability to replenish.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065" y="2375452"/>
            <a:ext cx="5214809" cy="306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878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Concepts- Exploitation –Overfishing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48439" y="2041802"/>
            <a:ext cx="461496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800" b="1" dirty="0"/>
              <a:t>Growth</a:t>
            </a:r>
            <a:r>
              <a:rPr lang="en-US" sz="2800" dirty="0"/>
              <a:t> </a:t>
            </a:r>
            <a:r>
              <a:rPr lang="en-US" sz="2800" b="1" dirty="0"/>
              <a:t>overfishing</a:t>
            </a:r>
            <a:r>
              <a:rPr lang="en-US" sz="2800" dirty="0"/>
              <a:t>: Catching fish before they have had a chance to grow to their optimal size</a:t>
            </a:r>
            <a:r>
              <a:rPr lang="en-US" sz="2800" dirty="0" smtClean="0"/>
              <a:t>.</a:t>
            </a:r>
          </a:p>
          <a:p>
            <a:pPr lvl="1"/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629" y="1600200"/>
            <a:ext cx="5261592" cy="392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0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Concepts- Exploitation –Overfishing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48439" y="2041802"/>
            <a:ext cx="461496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800" b="1" dirty="0" smtClean="0"/>
              <a:t>Recruitment</a:t>
            </a:r>
            <a:r>
              <a:rPr lang="en-US" sz="2800" dirty="0" smtClean="0"/>
              <a:t> </a:t>
            </a:r>
            <a:r>
              <a:rPr lang="en-US" sz="2800" b="1" dirty="0"/>
              <a:t>overfishing</a:t>
            </a:r>
            <a:r>
              <a:rPr lang="en-US" sz="2800" dirty="0"/>
              <a:t>: Reducing the spawning stock to a level where it cannot produce enough recruits to sustain itself.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49" y="1690688"/>
            <a:ext cx="6442686" cy="360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841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89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1607</TotalTime>
  <Words>534</Words>
  <Application>Microsoft Office PowerPoint</Application>
  <PresentationFormat>Widescreen</PresentationFormat>
  <Paragraphs>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Calibri Light</vt:lpstr>
      <vt:lpstr>Symbol</vt:lpstr>
      <vt:lpstr>Times New Roman</vt:lpstr>
      <vt:lpstr>Office Theme</vt:lpstr>
      <vt:lpstr>Presenter Dr Catherine Mwakosya &amp; Dr Mathew Silas </vt:lpstr>
      <vt:lpstr>Key guiding questions </vt:lpstr>
      <vt:lpstr>What is fish stock assessment</vt:lpstr>
      <vt:lpstr>What is fish stock assessment</vt:lpstr>
      <vt:lpstr>Why Assess Fish Stocks?</vt:lpstr>
      <vt:lpstr>Concepts-Life history</vt:lpstr>
      <vt:lpstr>Concepts – population dynamics</vt:lpstr>
      <vt:lpstr>PowerPoint Presentation</vt:lpstr>
      <vt:lpstr>Concepts –reference points</vt:lpstr>
      <vt:lpstr>Concepts- Exploitation –Yield per recruits</vt:lpstr>
      <vt:lpstr>Concepts- Exploitation –Stock-recruitment relationship</vt:lpstr>
      <vt:lpstr>Concepts- Exploitation –Maximum sustainable yield (MSY)</vt:lpstr>
      <vt:lpstr>Concepts- Exploitation –Overfishing</vt:lpstr>
      <vt:lpstr>Concepts- Exploitation –Overfishing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Assessment</dc:title>
  <dc:creator>HP</dc:creator>
  <cp:lastModifiedBy>HP</cp:lastModifiedBy>
  <cp:revision>49</cp:revision>
  <dcterms:created xsi:type="dcterms:W3CDTF">2025-12-08T11:17:46Z</dcterms:created>
  <dcterms:modified xsi:type="dcterms:W3CDTF">2025-12-13T12:58:03Z</dcterms:modified>
</cp:coreProperties>
</file>